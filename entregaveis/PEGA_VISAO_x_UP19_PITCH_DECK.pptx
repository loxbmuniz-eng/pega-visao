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Janela oficial do UP19: 27/12/2026 a 04/01/2027.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emocional, primeira pessoa do 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central da proposta. Conceito integral da obra cimática.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kit audiovisual próprio entra como qualidade técnica, sem valor monetário — não compõe 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cachês de execução (Badaró, Mickaela, Zambonini) ficam a cargo do UP — não compõem mais o aporte do Pega Visão.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jp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png"/><Relationship Id="rId5" Type="http://schemas.openxmlformats.org/officeDocument/2006/relationships/image" Target="../media/image-10-5.jp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2.png"/><Relationship Id="rId5" Type="http://schemas.openxmlformats.org/officeDocument/2006/relationships/image" Target="../media/image-15-2.png"/><Relationship Id="rId6" Type="http://schemas.openxmlformats.org/officeDocument/2006/relationships/image" Target="../media/image-15-2.png"/><Relationship Id="rId7" Type="http://schemas.openxmlformats.org/officeDocument/2006/relationships/image" Target="../media/image-15-2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ega-visao/348e86a7-e79e-5678-8e97-1bfec678684b/scratchpad/assets/fotos/obra_pegavisa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55321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74920" y="0"/>
            <a:ext cx="457200" cy="6858000"/>
          </a:xfrm>
          <a:prstGeom prst="rect">
            <a:avLst/>
          </a:prstGeom>
          <a:solidFill>
            <a:srgbClr val="141312"/>
          </a:solidFill>
          <a:ln w="12700">
            <a:solidFill>
              <a:srgbClr val="141312"/>
            </a:solidFill>
            <a:prstDash val="solid"/>
          </a:ln>
        </p:spPr>
      </p:sp>
      <p:pic>
        <p:nvPicPr>
          <p:cNvPr id="4" name="Image 1" descr="/tmp/claude-0/-home-user-pega-visao/348e86a7-e79e-5678-8e97-1bfec678684b/scratchpad/assets/logo/logo_pegavisao_cre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84048"/>
            <a:ext cx="1975104" cy="7132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3600" y="502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C9A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ATIVAÇÃO ARTÍSTICA · UP 19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943600" y="1389888"/>
            <a:ext cx="5806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600" b="1" spc="50" kern="0" dirty="0">
                <a:solidFill>
                  <a:srgbClr val="C9A0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PEGA VISÃO</a:t>
            </a:r>
            <a:endParaRPr lang="en-US" sz="4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600" b="1" spc="50" kern="0" dirty="0">
                <a:solidFill>
                  <a:srgbClr val="F5F0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UNIVERSO</a:t>
            </a:r>
            <a:endParaRPr lang="en-US" sz="4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600" b="1" spc="50" kern="0" dirty="0">
                <a:solidFill>
                  <a:srgbClr val="F5F0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PARALELLO.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5943600" y="437083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19ª edição · 27 dez 2026 → 04 jan 2027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943600" y="4864608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Curadoria sensorial de arte tátil, cerâmica às cegas,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dança guiada e música — atravessada por um gesto só: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venda nos olhos.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943600" y="605332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110" kern="0" dirty="0">
                <a:solidFill>
                  <a:srgbClr val="C9A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 BLIND · LUIS BADARÓ · MICKAELA · FERNANDA PISTELLI · ANDRÉ ZAMBONINI</a:t>
            </a:r>
            <a:endParaRPr lang="en-US" sz="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HISTÓRIA · VINTE ANOS COM O 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D83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Vinte anos depois,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D83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lugar onde tudo começou.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2395728"/>
            <a:ext cx="6492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2006, com 11 anos, meu pai me levou ao Universo Paralello pela primeira vez. Foi onde a música eletrônica começou pra mim. Voltei como artista em 2013, 2015 e 2017 — três edições no palco Tortuga.</a:t>
            </a:r>
            <a:endParaRPr lang="en-US" sz="1250" dirty="0"/>
          </a:p>
          <a:p>
            <a:pPr indent="0" marL="0">
              <a:lnSpc>
                <a:spcPts val="1850"/>
              </a:lnSpc>
              <a:buNone/>
            </a:pPr>
            <a:endParaRPr lang="en-US" sz="125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julho de 2022 e setembro de 2024, minha visão ficou severamente comprometida por um descolamento de retina raro. Dois anos, dois meses e dois dias de cegueira. Voltei a enxergar e hoje sou pessoa com deficiência visual monocular.</a:t>
            </a:r>
            <a:endParaRPr lang="en-US" sz="1250" dirty="0"/>
          </a:p>
          <a:p>
            <a:pPr indent="0" marL="0">
              <a:lnSpc>
                <a:spcPts val="1850"/>
              </a:lnSpc>
              <a:buNone/>
            </a:pPr>
            <a:endParaRPr lang="en-US" sz="125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mesmo ano da recuperação, fundei em Cuiabá o Festival Pega Visão. Duas edições realizadas.</a:t>
            </a:r>
            <a:endParaRPr lang="en-US" sz="1250" dirty="0"/>
          </a:p>
          <a:p>
            <a:pPr indent="0" marL="0">
              <a:lnSpc>
                <a:spcPts val="1850"/>
              </a:lnSpc>
              <a:buNone/>
            </a:pPr>
            <a:endParaRPr lang="en-US" sz="125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proponho agora é a continuação natural: levar essa pesquisa de volta pro lugar onde tudo começou.</a:t>
            </a:r>
            <a:endParaRPr lang="en-US" sz="1250" dirty="0"/>
          </a:p>
        </p:txBody>
      </p:sp>
      <p:pic>
        <p:nvPicPr>
          <p:cNvPr id="5" name="Image 0" descr="/tmp/claude-0/-home-user-pega-visao/348e86a7-e79e-5678-8e97-1bfec678684b/scratchpad/assets/fotos/ota_retrat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52360" y="932688"/>
            <a:ext cx="4169664" cy="4261104"/>
          </a:xfrm>
          <a:prstGeom prst="rect">
            <a:avLst/>
          </a:prstGeom>
        </p:spPr>
      </p:pic>
      <p:pic>
        <p:nvPicPr>
          <p:cNvPr id="6" name="Image 1" descr="/tmp/claude-0/-home-user-pega-visao/348e86a7-e79e-5678-8e97-1bfec678684b/scratchpad/assets/frames/photo_o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932688"/>
            <a:ext cx="4169664" cy="42611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5742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66928" y="6035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 vez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2130552" y="5742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2013/15/17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2130552" y="6035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palco Tortuga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059936" y="5742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059936" y="6035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travessia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623560" y="57424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623560" y="60350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 a enxergar · nasce o festival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650224" y="5742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8650224" y="6035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 edição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396728" y="57424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2026/27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10396728" y="6035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retorno · UP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710367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63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SOMOS · FESTIVAL PEGA VISÃO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D63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Inclusão como linguagem,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D63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como pauta.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2487168"/>
            <a:ext cx="5943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edições realizadas em Cuiabá, em 2024 e 2025.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musical, oficinas sensoriais, exposições táteis e tecnologia de acessibilidade.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 diverso, com protagonismo de pessoas com deficiência visual.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lucro das edições foi revertido em ação filantrópica local.</a:t>
            </a:r>
            <a:endParaRPr lang="en-US" sz="1350" dirty="0"/>
          </a:p>
        </p:txBody>
      </p:sp>
      <p:pic>
        <p:nvPicPr>
          <p:cNvPr id="5" name="Image 0" descr="/tmp/claude-0/-home-user-pega-visao/348e86a7-e79e-5678-8e97-1bfec678684b/scratchpad/assets/fotos/palco_cantor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23760" y="932688"/>
            <a:ext cx="4398264" cy="4956048"/>
          </a:xfrm>
          <a:prstGeom prst="rect">
            <a:avLst/>
          </a:prstGeom>
        </p:spPr>
      </p:pic>
      <p:pic>
        <p:nvPicPr>
          <p:cNvPr id="6" name="Image 1" descr="/tmp/claude-0/-home-user-pega-visao/348e86a7-e79e-5678-8e97-1bfec678684b/scratchpad/assets/frames/photo_pal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932688"/>
            <a:ext cx="4398264" cy="4956048"/>
          </a:xfrm>
          <a:prstGeom prst="rect">
            <a:avLst/>
          </a:prstGeom>
        </p:spPr>
      </p:pic>
      <p:pic>
        <p:nvPicPr>
          <p:cNvPr id="7" name="Image 2" descr="/tmp/claude-0/-home-user-pega-visao/348e86a7-e79e-5678-8e97-1bfec678684b/scratchpad/assets/ilustras_png/ilustra-0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138928"/>
            <a:ext cx="1371600" cy="8229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710367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A8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77724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700"/>
              </a:lnSpc>
              <a:buNone/>
            </a:pPr>
            <a:r>
              <a:rPr lang="en-US" sz="3500" b="1" dirty="0">
                <a:solidFill>
                  <a:srgbClr val="A8B8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sala onde quem entra</a:t>
            </a:r>
            <a:endParaRPr lang="en-US" sz="35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3500" b="1" dirty="0">
                <a:solidFill>
                  <a:srgbClr val="A8B8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convidado a fechar</a:t>
            </a:r>
            <a:endParaRPr lang="en-US" sz="35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3500" b="1" dirty="0">
                <a:solidFill>
                  <a:srgbClr val="A8B8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olhos pra ver melhor.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66928" y="3986784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um evento dentro do evento. É uma curadoria de experiências sensoriais integrada à programação do UP. Quatro frentes acontecem ao longo do festival: uma obra tátil na galeria, live painting, cerâmica guiada de olhos vendados e sets musicais. Tudo costurado por um gesto só — a venda de pano oferecida na entrada, passagem pra outro jeito de perceber a arte.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5870448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60" kern="0" dirty="0">
                <a:solidFill>
                  <a:srgbClr val="A8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empatia · sinestesia · escuta · tato · cuidado · travessia · presença · ritual</a:t>
            </a:r>
            <a:endParaRPr lang="en-US" sz="1150" dirty="0"/>
          </a:p>
        </p:txBody>
      </p:sp>
      <p:pic>
        <p:nvPicPr>
          <p:cNvPr id="6" name="Image 0" descr="/tmp/claude-0/-home-user-pega-visao/348e86a7-e79e-5678-8e97-1bfec678684b/scratchpad/assets/ilustras_png/ilustra-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371600"/>
            <a:ext cx="2926080" cy="2926080"/>
          </a:xfrm>
          <a:prstGeom prst="rect">
            <a:avLst/>
          </a:prstGeom>
        </p:spPr>
      </p:pic>
      <p:pic>
        <p:nvPicPr>
          <p:cNvPr id="7" name="Image 1" descr="/tmp/claude-0/-home-user-pega-visao/348e86a7-e79e-5678-8e97-1bfec678684b/scratchpad/assets/ilustras_png/ilustra-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4572000"/>
            <a:ext cx="2103120" cy="1371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10367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822960"/>
            <a:ext cx="9628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0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escuro me ensinou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C9A0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só o escuro ensina.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103120" y="2798064"/>
            <a:ext cx="79827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olhos são a porta da alma porque é por eles que a alma alcança o outro.</a:t>
            </a:r>
            <a:endParaRPr lang="en-US" sz="1500" dirty="0"/>
          </a:p>
          <a:p>
            <a:pPr algn="ctr" indent="0" marL="0">
              <a:lnSpc>
                <a:spcPts val="2800"/>
              </a:lnSpc>
              <a:buNone/>
            </a:pPr>
            <a:endParaRPr lang="en-US" sz="15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eles falham, o ouvido cresce. O tato fala. O corpo lembra.</a:t>
            </a:r>
            <a:endParaRPr lang="en-US" sz="1500" dirty="0"/>
          </a:p>
          <a:p>
            <a:pPr algn="ctr" indent="0" marL="0">
              <a:lnSpc>
                <a:spcPts val="2800"/>
              </a:lnSpc>
              <a:buNone/>
            </a:pPr>
            <a:endParaRPr lang="en-US" sz="15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não é a única forma de presença. E olhar com cuidado é um gesto que se ensina.</a:t>
            </a:r>
            <a:endParaRPr lang="en-US" sz="1500" dirty="0"/>
          </a:p>
          <a:p>
            <a:pPr algn="ctr" indent="0" marL="0">
              <a:lnSpc>
                <a:spcPts val="2800"/>
              </a:lnSpc>
              <a:buNone/>
            </a:pPr>
            <a:endParaRPr lang="en-US" sz="15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arte que proponho nasce daí: música, tato, escuta e empatia atravessando o mesmo corpo. Cura, inclusão e cuidado deixam de ser tema e viram experiência viva.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10367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ega-visao/348e86a7-e79e-5678-8e97-1bfec678684b/scratchpad/assets/fotos/obra_pegavisa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0"/>
            <a:ext cx="642823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C9A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OBRA PEGA VISÃO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786384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C9A0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Feita pra ser tocada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C9A0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vista.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66928" y="2487168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painel em camadas — pintura, alto-relevo e cerâmica integrada, feito por Luis Badaró. É a peça-centro do festival desde a primeira edição e funciona como ponto de referência da galeria.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visitante é convidado a usar uma venda nos olhos e sentir a obra com as mãos: uma experiência sinestésica onde a mente lúdica percebe antes de ver. Só então vem a revelação visual.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66928" y="5349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spc="120" kern="0" dirty="0">
                <a:solidFill>
                  <a:srgbClr val="C9A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CEDIDA AO UP19 PARA EXPOSIÇÃO NA GALERIA OFICIAL,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spc="120" kern="0" dirty="0">
                <a:solidFill>
                  <a:srgbClr val="C9A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TODO O PERÍODO DO EVENTO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710367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3D8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NOVA OBRA · PRODUZIDA PARA O UP19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D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Cimática.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forma que o som desenha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matéria — em relevo tátil.</a:t>
            </a:r>
            <a:endParaRPr lang="en-US" sz="1500" dirty="0"/>
          </a:p>
        </p:txBody>
      </p:sp>
      <p:pic>
        <p:nvPicPr>
          <p:cNvPr id="5" name="Image 0" descr="/tmp/claude-0/-home-user-pega-visao/348e86a7-e79e-5678-8e97-1bfec678684b/scratchpad/assets/cimatica_len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749808"/>
            <a:ext cx="5751576" cy="2569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639312"/>
            <a:ext cx="5349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cimática é o estudo de como o som, em vibração, organiza a matéria em padrões visíveis — a prova física de que toda frequência sonora carrega uma forma, mesmo antes de qualquer olho a perceber. A obra parte desse princípio: transforma, em relevo tátil, os padrões que diferentes frequências imprimem na matéria — as figuras que o som desenha quando encontra areia, água ou placas em vibração.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72784" y="3639312"/>
            <a:ext cx="5349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 convida quem vê a tocar o que o som desenha, e permite que quem não vê acesse, pela primeira vez, a forma visual da própria música. É a alma do Pega Visão em sua expressão mais literal: a certeza de que a percepção do mundo nunca dependeu de um único sentido — o som sempre teve corpo, mesmo para quem nunca pôde vê-lo.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6035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3D8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 NOVA, DE LUIS BADARÓ · PRODUZIDA ESPECIALMENTE PARA A GALERIA DO UP19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10367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9E5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FRENTES NO UP19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9E5D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coisas acontecendo, dentro da programação do UP.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331720"/>
            <a:ext cx="5382616" cy="1664208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5" name="Image 0" descr="/tmp/claude-0/-home-user-pega-visao/348e86a7-e79e-5678-8e97-1bfec678684b/scratchpad/assets/frames/card_frentes_oliv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5382616" cy="1664208"/>
          </a:xfrm>
          <a:prstGeom prst="rect">
            <a:avLst/>
          </a:prstGeom>
        </p:spPr>
      </p:pic>
      <p:pic>
        <p:nvPicPr>
          <p:cNvPr id="6" name="Image 1" descr="/tmp/claude-0/-home-user-pega-visao/348e86a7-e79e-5678-8e97-1bfec678684b/scratchpad/assets/ilustras_png/ilustra-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569464"/>
            <a:ext cx="749808" cy="5669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00784" y="2551176"/>
            <a:ext cx="401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A8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GALERIA TÁTIL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700784" y="2990088"/>
            <a:ext cx="40110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 Pega Visão cedida + nova obra cimática, produzida para o UP19. Vendas de pano para quem quiser percorrer primeiro pelo tato.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242152" y="2331720"/>
            <a:ext cx="5382616" cy="1664208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10" name="Image 2" descr="/tmp/claude-0/-home-user-pega-visao/348e86a7-e79e-5678-8e97-1bfec678684b/scratchpad/assets/frames/card_frentes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152" y="2331720"/>
            <a:ext cx="5382616" cy="1664208"/>
          </a:xfrm>
          <a:prstGeom prst="rect">
            <a:avLst/>
          </a:prstGeom>
        </p:spPr>
      </p:pic>
      <p:pic>
        <p:nvPicPr>
          <p:cNvPr id="11" name="Image 3" descr="/tmp/claude-0/-home-user-pega-visao/348e86a7-e79e-5678-8e97-1bfec678684b/scratchpad/assets/ilustras_png/ilustra-0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608" y="2569464"/>
            <a:ext cx="749808" cy="5669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76008" y="2551176"/>
            <a:ext cx="401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D63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LIVE PAINTING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7376008" y="2990088"/>
            <a:ext cx="40110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Badaró pinta ao vivo em área próxima à galeria. Uma obra nasce no processo, à vista do público.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566928" y="4206240"/>
            <a:ext cx="5382616" cy="1664208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15" name="Image 4" descr="/tmp/claude-0/-home-user-pega-visao/348e86a7-e79e-5678-8e97-1bfec678684b/scratchpad/assets/frames/card_frentes_magent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206240"/>
            <a:ext cx="5382616" cy="1664208"/>
          </a:xfrm>
          <a:prstGeom prst="rect">
            <a:avLst/>
          </a:prstGeom>
        </p:spPr>
      </p:pic>
      <p:pic>
        <p:nvPicPr>
          <p:cNvPr id="16" name="Image 5" descr="/tmp/claude-0/-home-user-pega-visao/348e86a7-e79e-5678-8e97-1bfec678684b/scratchpad/assets/ilustras_png/ilustra-1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4443984"/>
            <a:ext cx="749808" cy="56692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700784" y="4425696"/>
            <a:ext cx="401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D8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CERÂMICA ÀS CEGAS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1700784" y="4864608"/>
            <a:ext cx="40110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Vivência guiada de olhos vendados com Mickaela, nos dias 28, 29 e 30/12. Argila, mãos e escuta.</a:t>
            </a:r>
            <a:endParaRPr lang="en-US" sz="1150" dirty="0"/>
          </a:p>
        </p:txBody>
      </p:sp>
      <p:sp>
        <p:nvSpPr>
          <p:cNvPr id="19" name="Shape 11"/>
          <p:cNvSpPr/>
          <p:nvPr/>
        </p:nvSpPr>
        <p:spPr>
          <a:xfrm>
            <a:off x="6242152" y="4206240"/>
            <a:ext cx="5382616" cy="1664208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20" name="Image 6" descr="/tmp/claude-0/-home-user-pega-visao/348e86a7-e79e-5678-8e97-1bfec678684b/scratchpad/assets/frames/card_frentes_lila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2152" y="4206240"/>
            <a:ext cx="5382616" cy="1664208"/>
          </a:xfrm>
          <a:prstGeom prst="rect">
            <a:avLst/>
          </a:prstGeom>
        </p:spPr>
      </p:pic>
      <p:pic>
        <p:nvPicPr>
          <p:cNvPr id="21" name="Image 7" descr="/tmp/claude-0/-home-user-pega-visao/348e86a7-e79e-5678-8e97-1bfec678684b/scratchpad/assets/ilustras_png/ilustra-0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1608" y="4443984"/>
            <a:ext cx="749808" cy="56692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376008" y="4425696"/>
            <a:ext cx="401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9E5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TRUST IN DANCE</a:t>
            </a:r>
            <a:endParaRPr lang="en-US" sz="1350" dirty="0"/>
          </a:p>
        </p:txBody>
      </p:sp>
      <p:sp>
        <p:nvSpPr>
          <p:cNvPr id="23" name="Text 13"/>
          <p:cNvSpPr/>
          <p:nvPr/>
        </p:nvSpPr>
        <p:spPr>
          <a:xfrm>
            <a:off x="7376008" y="4864608"/>
            <a:ext cx="40110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 de dance guidance com Fernanda Pistelli. O público dança de olhos vendados, navegando a música pelo corpo.</a:t>
            </a:r>
            <a:endParaRPr lang="en-US" sz="1150" dirty="0"/>
          </a:p>
        </p:txBody>
      </p:sp>
      <p:sp>
        <p:nvSpPr>
          <p:cNvPr id="24" name="Text 14"/>
          <p:cNvSpPr/>
          <p:nvPr/>
        </p:nvSpPr>
        <p:spPr>
          <a:xfrm>
            <a:off x="566928" y="610819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autorais de Ota Blind no Chill Out e no UP Club completam a curadoria.</a:t>
            </a:r>
            <a:endParaRPr lang="en-US" sz="1150" dirty="0"/>
          </a:p>
        </p:txBody>
      </p:sp>
      <p:sp>
        <p:nvSpPr>
          <p:cNvPr id="25" name="Text 15"/>
          <p:cNvSpPr/>
          <p:nvPr/>
        </p:nvSpPr>
        <p:spPr>
          <a:xfrm>
            <a:off x="10710367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CERÂMICA ÀS CEGAS · MICKAELA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D83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Modelar sem ver é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D83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deixar a mão pensar.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2487168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Vivência guiada de olhos vendados, conduzida por Mickaela — ceramista e terapeuta. O participante recebe a argila já vendado: não há referência visual, só peso, temperatura e resistência do barro.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método já foi testado em edição anterior do festival, com participação de pessoas com deficiência visual. A peça que nasce nunca é a peça que se imaginou — e é esse o ponto.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5029200"/>
            <a:ext cx="1810512" cy="841248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6" name="Image 0" descr="/tmp/claude-0/-home-user-pega-visao/348e86a7-e79e-5678-8e97-1bfec678684b/scratchpad/assets/frames/card_d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0"/>
            <a:ext cx="1810512" cy="841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029200"/>
            <a:ext cx="1810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0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/ 12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578608" y="5029200"/>
            <a:ext cx="1810512" cy="841248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9" name="Image 1" descr="/tmp/claude-0/-home-user-pega-visao/348e86a7-e79e-5678-8e97-1bfec678684b/scratchpad/assets/frames/card_d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5029200"/>
            <a:ext cx="1810512" cy="8412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78608" y="5029200"/>
            <a:ext cx="1810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0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/ 12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4590288" y="5029200"/>
            <a:ext cx="1810512" cy="841248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12" name="Image 2" descr="/tmp/claude-0/-home-user-pega-visao/348e86a7-e79e-5678-8e97-1bfec678684b/scratchpad/assets/frames/card_d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5029200"/>
            <a:ext cx="1810512" cy="8412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5029200"/>
            <a:ext cx="1810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0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12</a:t>
            </a:r>
            <a:endParaRPr lang="en-US" sz="2200" dirty="0"/>
          </a:p>
        </p:txBody>
      </p:sp>
      <p:pic>
        <p:nvPicPr>
          <p:cNvPr id="14" name="Image 3" descr="/tmp/claude-0/-home-user-pega-visao/348e86a7-e79e-5678-8e97-1bfec678684b/scratchpad/assets/ilustras_png/ilustra-2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1298448"/>
            <a:ext cx="2834640" cy="30632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49440" y="5029200"/>
            <a:ext cx="4672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b="1" spc="60" kern="0" dirty="0">
                <a:solidFill>
                  <a:srgbClr val="D8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 DEFINIR COM A PRODUÇÃO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b="1" spc="60" kern="0" dirty="0">
                <a:solidFill>
                  <a:srgbClr val="D8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CIRCULOU · ESPAÇO DE CURA · PRÓXIMO AO CHILL OUT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10710367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ega-visao/348e86a7-e79e-5678-8e97-1bfec678684b/scratchpad/assets/fotos/trust_principa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52578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0" y="3108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9E5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IN DANCE · FERNANDA PISTELLI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0" y="91440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9E5D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Dançar de olhos vendados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9E5D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navegar a música pelo corpo.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0" y="32004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 de dance guidance conduzida por Fernanda Pistelli. O público dança vendado — uma experiência de escuta, confiança e presença total.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Passagens por Boom Festival, Universo Paralello e residência DragonFruit (Brisbane / AUS). Sets entre Progressive House e Techno.</a:t>
            </a:r>
            <a:endParaRPr lang="en-US" sz="1300" dirty="0"/>
          </a:p>
        </p:txBody>
      </p:sp>
      <p:pic>
        <p:nvPicPr>
          <p:cNvPr id="6" name="Image 1" descr="/tmp/claude-0/-home-user-pega-visao/348e86a7-e79e-5678-8e97-1bfec678684b/scratchpad/assets/fotos/trust_grupo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0" y="5029200"/>
            <a:ext cx="2834640" cy="1298448"/>
          </a:xfrm>
          <a:prstGeom prst="rect">
            <a:avLst/>
          </a:prstGeom>
        </p:spPr>
      </p:pic>
      <p:pic>
        <p:nvPicPr>
          <p:cNvPr id="7" name="Image 2" descr="/tmp/claude-0/-home-user-pega-visao/348e86a7-e79e-5678-8e97-1bfec678684b/scratchpad/assets/frames/photo_trust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5029200"/>
            <a:ext cx="2834640" cy="1298448"/>
          </a:xfrm>
          <a:prstGeom prst="rect">
            <a:avLst/>
          </a:prstGeom>
        </p:spPr>
      </p:pic>
      <p:pic>
        <p:nvPicPr>
          <p:cNvPr id="8" name="Image 3" descr="/tmp/claude-0/-home-user-pega-visao/348e86a7-e79e-5678-8e97-1bfec678684b/scratchpad/assets/fotos/trust_duo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86800" y="5029200"/>
            <a:ext cx="2935224" cy="1298448"/>
          </a:xfrm>
          <a:prstGeom prst="rect">
            <a:avLst/>
          </a:prstGeom>
        </p:spPr>
      </p:pic>
      <p:pic>
        <p:nvPicPr>
          <p:cNvPr id="9" name="Image 4" descr="/tmp/claude-0/-home-user-pega-visao/348e86a7-e79e-5678-8e97-1bfec678684b/scratchpad/assets/frames/photo_trust_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5029200"/>
            <a:ext cx="2935224" cy="1298448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669280" y="261518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E5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PARTICIPAÇÃO ARTÍSTICA · SEM CUSTO AO FESTIVAL</a:t>
            </a:r>
            <a:endParaRPr lang="en-US" sz="1000" dirty="0"/>
          </a:p>
        </p:txBody>
      </p:sp>
      <p:sp>
        <p:nvSpPr>
          <p:cNvPr id="11" name="Text 4"/>
          <p:cNvSpPr/>
          <p:nvPr/>
        </p:nvSpPr>
        <p:spPr>
          <a:xfrm>
            <a:off x="10710367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ega-visao/348e86a7-e79e-5678-8e97-1bfec678684b/scratchpad/assets/fotos/live_painting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0" y="0"/>
            <a:ext cx="48737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63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PAINTING · LUIS BADARÓ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786384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D63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obra nascendo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D63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vista de quem passa.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66928" y="2487168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Badaró pinta ao vivo durante o festival, em área próxima à galeria de arte. Quem passa duas vezes encontra coisas diferentes.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Artista visual, desenha desde a infância e há quase dez anos profissionalmente. Trocou a arquitetura pelas artes. Murais em Rondonópolis e Cuiabá (2022) e em Barcelona (2019). Assina a identidade visual tátil do Pega Visão desde a primeira edição.</a:t>
            </a:r>
            <a:endParaRPr lang="en-US" sz="1300" dirty="0"/>
          </a:p>
        </p:txBody>
      </p:sp>
      <p:pic>
        <p:nvPicPr>
          <p:cNvPr id="6" name="Image 1" descr="/tmp/claude-0/-home-user-pega-visao/348e86a7-e79e-5678-8e97-1bfec678684b/scratchpad/assets/fotos/badaro_retrato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4956048"/>
            <a:ext cx="1261872" cy="1371600"/>
          </a:xfrm>
          <a:prstGeom prst="rect">
            <a:avLst/>
          </a:prstGeom>
        </p:spPr>
      </p:pic>
      <p:pic>
        <p:nvPicPr>
          <p:cNvPr id="7" name="Image 2" descr="/tmp/claude-0/-home-user-pega-visao/348e86a7-e79e-5678-8e97-1bfec678684b/scratchpad/assets/frames/photo_badar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956048"/>
            <a:ext cx="1261872" cy="1371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11680" y="52303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spc="110" kern="0" dirty="0">
                <a:solidFill>
                  <a:srgbClr val="D63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MDF 220×180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spc="110" kern="0" dirty="0">
                <a:solidFill>
                  <a:srgbClr val="D63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TINTA ACRÍLICA · EMBALAGEM PARA TRANSPORTE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10710367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A8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MÚSICA · OTA BLIND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A8B8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artista da casa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A8B8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voltando ao palco.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2487168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 desde 2008, três passagens pelo palco Tortuga do UP em 2013, 2015 e 2017. Idealizador e curador do Festival Pega Visão. Pessoa com deficiência visual monocular desde setembro de 2024.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sets autorais foram enviados para apreciação da curadoria.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4443984"/>
            <a:ext cx="6035040" cy="822960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6" name="Image 0" descr="/tmp/claude-0/-home-user-pega-visao/348e86a7-e79e-5678-8e97-1bfec678684b/scratchpad/assets/frames/card_se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443984"/>
            <a:ext cx="603504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444398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8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CHILL OUT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670048" y="444398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horário próximo à experiência Trust in Dance.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5413248"/>
            <a:ext cx="6035040" cy="822960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10" name="Image 1" descr="/tmp/claude-0/-home-user-pega-visao/348e86a7-e79e-5678-8e97-1bfec678684b/scratchpad/assets/frames/card_se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413248"/>
            <a:ext cx="6035040" cy="822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54132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8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CLUB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670048" y="54132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autoral.</a:t>
            </a:r>
            <a:endParaRPr lang="en-US" sz="1150" dirty="0"/>
          </a:p>
        </p:txBody>
      </p:sp>
      <p:pic>
        <p:nvPicPr>
          <p:cNvPr id="13" name="Image 2" descr="/tmp/claude-0/-home-user-pega-visao/348e86a7-e79e-5678-8e97-1bfec678684b/scratchpad/assets/ilustras_png/ilustra-3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463040"/>
            <a:ext cx="4389120" cy="3291840"/>
          </a:xfrm>
          <a:prstGeom prst="rect">
            <a:avLst/>
          </a:prstGeom>
        </p:spPr>
      </p:pic>
      <p:pic>
        <p:nvPicPr>
          <p:cNvPr id="14" name="Image 3" descr="/tmp/claude-0/-home-user-pega-visao/348e86a7-e79e-5678-8e97-1bfec678684b/scratchpad/assets/ilustras_png/ilustra-1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4846320"/>
            <a:ext cx="1463040" cy="10972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10367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3D8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AUDIOVISUAL · ANDRÉ ZAMBONINI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3D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que circula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3D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junto do nome do festival.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2395728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Captação e produção de conteúdo documental do projeto no UP19, sem cachê. Diretor de fotografia, editor e piloto de drone, de Cuiabá. Registrou três edições do Festival Baguncinha e mais de cem live sessions.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D8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PROFISSIONAL PRÓPRIO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4041648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Câmera Sony A7IV, sensor de 33MP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Lentes Sigma 24-70 Art e 70-200 GM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Lapela Hollyland Lark Max 2 e tripé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Tubo LED Sokani 25W, LED portátil 40W e flash Godox V1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635240" y="2331720"/>
            <a:ext cx="3986784" cy="3291840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8" name="Image 0" descr="/tmp/claude-0/-home-user-pega-visao/348e86a7-e79e-5678-8e97-1bfec678684b/scratchpad/assets/frames/card_intercamb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331720"/>
            <a:ext cx="3986784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91272" y="25786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D8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INTERCÂMBIO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891272" y="3054096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o material captado pelo Pega Visão fica disponível ao UP para uso institucional.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troca, pedimos acesso ao material audiovisual captado pela produção oficial do festival.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710367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A8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TRAZEMOS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A8B8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Aporte próprio do Pega Visão.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4964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332720" y="173736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66544"/>
            <a:ext cx="11277295" cy="338328"/>
          </a:xfrm>
          <a:prstGeom prst="rect">
            <a:avLst/>
          </a:prstGeom>
          <a:solidFill>
            <a:srgbClr val="1B1917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06654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 Pega Visão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0" y="2066544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Cedida à galeria oficial, todo o período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49640" y="2066544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Contrapartida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332720" y="2066544"/>
            <a:ext cx="1289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2404872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painting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40480" y="2404872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Pintura ao vivo · Luis Badaró · cachê solicitado ao 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49640" y="2404872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Contrapartida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332720" y="2404872"/>
            <a:ext cx="1289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11277295" cy="338328"/>
          </a:xfrm>
          <a:prstGeom prst="rect">
            <a:avLst/>
          </a:prstGeom>
          <a:solidFill>
            <a:srgbClr val="1B1917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74320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Cerâmica Às Cegas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40480" y="2743200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Vivência guiada · Mickaela · cachê solicitado ao 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49640" y="274320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Contrapartida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332720" y="2743200"/>
            <a:ext cx="1289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3081528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audiovisual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840480" y="3081528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Captação documental · Zambonini · cachê solicitado ao UP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49640" y="3081528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Contrapartida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332720" y="3081528"/>
            <a:ext cx="1289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3419856"/>
            <a:ext cx="11277295" cy="338328"/>
          </a:xfrm>
          <a:prstGeom prst="rect">
            <a:avLst/>
          </a:prstGeom>
          <a:solidFill>
            <a:srgbClr val="1B1917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41985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Equipamento audiovisual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40480" y="341985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profissional próprio do diretor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9640" y="3419856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técnica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332720" y="3419856"/>
            <a:ext cx="1289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6928" y="375818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in Dance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840480" y="3758184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Participação artística · Fernanda Pistelli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49640" y="3758184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Contrapartida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332720" y="3758184"/>
            <a:ext cx="1289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7200" y="4096512"/>
            <a:ext cx="11277295" cy="338328"/>
          </a:xfrm>
          <a:prstGeom prst="rect">
            <a:avLst/>
          </a:prstGeom>
          <a:solidFill>
            <a:srgbClr val="1B1917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096512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Passagens aéreas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840480" y="4096512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pax, ida e volta · cotação de 27/07/2026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49640" y="4096512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 Visão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332720" y="4096512"/>
            <a:ext cx="1289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R$ 7.583,00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66928" y="443484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Translado Salvador ↔ Pratigi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840480" y="4434840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 e volta para a equipe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49640" y="443484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 Visão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332720" y="4434840"/>
            <a:ext cx="1289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R$ 930,00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57200" y="4773168"/>
            <a:ext cx="11277295" cy="338328"/>
          </a:xfrm>
          <a:prstGeom prst="rect">
            <a:avLst/>
          </a:prstGeom>
          <a:solidFill>
            <a:srgbClr val="1B1917"/>
          </a:solidFill>
          <a:ln/>
        </p:spPr>
      </p:sp>
      <p:sp>
        <p:nvSpPr>
          <p:cNvPr id="45" name="Text 43"/>
          <p:cNvSpPr/>
          <p:nvPr/>
        </p:nvSpPr>
        <p:spPr>
          <a:xfrm>
            <a:off x="566928" y="4773168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Hospedagem da equipe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840480" y="4773168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 própria no Jatimane, base de operação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49640" y="4773168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 Visão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0332720" y="4773168"/>
            <a:ext cx="1289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R$ 7.000,00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66928" y="51114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Intercâmbio audiovisual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3840480" y="511149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do Pega Visão cedido ao UP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549640" y="5111496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Contrapartida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0332720" y="5111496"/>
            <a:ext cx="1289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66928" y="5504688"/>
            <a:ext cx="11057839" cy="731520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54" name="Image 0" descr="/tmp/claude-0/-home-user-pega-visao/348e86a7-e79e-5678-8e97-1bfec678684b/scratchpad/assets/frames/card_total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504688"/>
            <a:ext cx="11057839" cy="73152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877824" y="550468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· APORTE PEGA VISÃO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7680960" y="55046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A8B8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R$ 15.513,00</a:t>
            </a:r>
            <a:endParaRPr lang="en-US" sz="2400" dirty="0"/>
          </a:p>
        </p:txBody>
      </p:sp>
      <p:sp>
        <p:nvSpPr>
          <p:cNvPr id="57" name="Text 54"/>
          <p:cNvSpPr/>
          <p:nvPr/>
        </p:nvSpPr>
        <p:spPr>
          <a:xfrm>
            <a:off x="10710367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PEDIMOS · CUSTO A COBRIR PELO 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D83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Cachês de execução e materiais.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11055096" cy="442570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5" name="Image 0" descr="/tmp/claude-0/-home-user-pega-visao/348e86a7-e79e-5678-8e97-1bfec678684b/scratchpad/assets/frames/card_row15_magen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00784"/>
            <a:ext cx="11055096" cy="4425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00784"/>
            <a:ext cx="329184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Cachê · live painting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133088" y="1700784"/>
            <a:ext cx="493776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· Luis Badaró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823960" y="1700784"/>
            <a:ext cx="2788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5F0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R$ 300,00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66928" y="2216506"/>
            <a:ext cx="11055096" cy="442570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10" name="Image 1" descr="/tmp/claude-0/-home-user-pega-visao/348e86a7-e79e-5678-8e97-1bfec678684b/scratchpad/assets/frames/card_row15_magen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16506"/>
            <a:ext cx="11055096" cy="44257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2216506"/>
            <a:ext cx="329184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Cachê · cerâmica às cegas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133088" y="2216506"/>
            <a:ext cx="493776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· Mickaela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823960" y="2216506"/>
            <a:ext cx="2788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5F0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R$ 300,00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66928" y="2732227"/>
            <a:ext cx="11055096" cy="442570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15" name="Image 2" descr="/tmp/claude-0/-home-user-pega-visao/348e86a7-e79e-5678-8e97-1bfec678684b/scratchpad/assets/frames/card_row15_magen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732227"/>
            <a:ext cx="11055096" cy="44257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" y="2732227"/>
            <a:ext cx="329184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Cachê · cobertura audiovisual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133088" y="2732227"/>
            <a:ext cx="493776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· André Zambonini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8823960" y="2732227"/>
            <a:ext cx="2788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5F0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R$ 300,00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66928" y="3247949"/>
            <a:ext cx="11055096" cy="442570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20" name="Image 3" descr="/tmp/claude-0/-home-user-pega-visao/348e86a7-e79e-5678-8e97-1bfec678684b/scratchpad/assets/frames/card_row15_magen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47949"/>
            <a:ext cx="11055096" cy="44257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3247949"/>
            <a:ext cx="329184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Materiais · live painting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133088" y="3247949"/>
            <a:ext cx="493776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Tinta acrílica, suporte MDF 220×180, embalagem e proteção.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8823960" y="3247949"/>
            <a:ext cx="2788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5F0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R$ 980,00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566928" y="3763670"/>
            <a:ext cx="11055096" cy="442570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25" name="Image 4" descr="/tmp/claude-0/-home-user-pega-visao/348e86a7-e79e-5678-8e97-1bfec678684b/scratchpad/assets/frames/card_row15_magent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763670"/>
            <a:ext cx="11055096" cy="44257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2960" y="3763670"/>
            <a:ext cx="329184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Materiais · vendas para os olhos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133088" y="3763670"/>
            <a:ext cx="493776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metros de tecido para 300 vendas, higienizadas e personalizadas.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8823960" y="3763670"/>
            <a:ext cx="2788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5F0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R$ 750,00</a:t>
            </a:r>
            <a:endParaRPr lang="en-US" sz="1700" dirty="0"/>
          </a:p>
        </p:txBody>
      </p:sp>
      <p:sp>
        <p:nvSpPr>
          <p:cNvPr id="29" name="Shape 22"/>
          <p:cNvSpPr/>
          <p:nvPr/>
        </p:nvSpPr>
        <p:spPr>
          <a:xfrm>
            <a:off x="566928" y="4279392"/>
            <a:ext cx="11055096" cy="442570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30" name="Image 5" descr="/tmp/claude-0/-home-user-pega-visao/348e86a7-e79e-5678-8e97-1bfec678684b/scratchpad/assets/frames/card_row15_magent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279392"/>
            <a:ext cx="11055096" cy="44257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2960" y="4279392"/>
            <a:ext cx="329184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Materiais · cerâmica às cegas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4133088" y="4279392"/>
            <a:ext cx="493776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Argila, lona e bacias.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8823960" y="4279392"/>
            <a:ext cx="2788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5F0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R$ 500,00</a:t>
            </a:r>
            <a:endParaRPr lang="en-US" sz="1700" dirty="0"/>
          </a:p>
        </p:txBody>
      </p:sp>
      <p:sp>
        <p:nvSpPr>
          <p:cNvPr id="34" name="Shape 26"/>
          <p:cNvSpPr/>
          <p:nvPr/>
        </p:nvSpPr>
        <p:spPr>
          <a:xfrm>
            <a:off x="566928" y="4795114"/>
            <a:ext cx="11055096" cy="442570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35" name="Image 6" descr="/tmp/claude-0/-home-user-pega-visao/348e86a7-e79e-5678-8e97-1bfec678684b/scratchpad/assets/frames/card_row15_our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4795114"/>
            <a:ext cx="11055096" cy="44257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22960" y="4795114"/>
            <a:ext cx="329184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· nova obra tátil cimática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4133088" y="4795114"/>
            <a:ext cx="493776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Materiais para a peça nova de Luis Badaró, para a galeria do UP19.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8823960" y="4795114"/>
            <a:ext cx="2788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0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 CONFIRMAR]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566928" y="5365699"/>
            <a:ext cx="11055096" cy="566928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40" name="Image 7" descr="/tmp/claude-0/-home-user-pega-visao/348e86a7-e79e-5678-8e97-1bfec678684b/scratchpad/assets/frames/card_total15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5365699"/>
            <a:ext cx="11055096" cy="56692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841248" y="5365699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· SOLICITADO AO UP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4846320" y="5365699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valor da obra cimática, a definir</a:t>
            </a:r>
            <a:endParaRPr lang="en-US" sz="950" dirty="0"/>
          </a:p>
        </p:txBody>
      </p:sp>
      <p:sp>
        <p:nvSpPr>
          <p:cNvPr id="43" name="Text 33"/>
          <p:cNvSpPr/>
          <p:nvPr/>
        </p:nvSpPr>
        <p:spPr>
          <a:xfrm>
            <a:off x="8549640" y="5365699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D83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R$ 3.130,00</a:t>
            </a:r>
            <a:endParaRPr lang="en-US" sz="2100" dirty="0"/>
          </a:p>
        </p:txBody>
      </p:sp>
      <p:sp>
        <p:nvSpPr>
          <p:cNvPr id="44" name="Text 34"/>
          <p:cNvSpPr/>
          <p:nvPr/>
        </p:nvSpPr>
        <p:spPr>
          <a:xfrm>
            <a:off x="10710367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C9A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PEDIMOS · APOIO INSTITUCIONAL, SEM VALOR MONETÁRIO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C9A0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Espaço, slots e credenciais.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2103120"/>
            <a:ext cx="538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Espaço · live painting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2377440"/>
            <a:ext cx="5382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próxima à galeria de arte.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42152" y="2103120"/>
            <a:ext cx="538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· galeria de arte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2152" y="2377440"/>
            <a:ext cx="5382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Exposição da nova obra tátil cimática.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2944368"/>
            <a:ext cx="538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da obra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3218688"/>
            <a:ext cx="5382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de entrega na galeria e antecedência de montagem.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42152" y="2944368"/>
            <a:ext cx="538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Espaço · cerâmica às cegas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2152" y="3218688"/>
            <a:ext cx="5382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 29 e 30/12 — Circulou, Espaço de Cura ou próximo ao Chill Out.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3785616"/>
            <a:ext cx="538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· live painting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4059936"/>
            <a:ext cx="5382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MDF 220×180 cedido ou produzido localmente, a confirmar; fixação em cavalete ou lona.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42152" y="3785616"/>
            <a:ext cx="538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· Chill Out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42152" y="4059936"/>
            <a:ext cx="5382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de Ota Blind, próximo à experiência Trust in Dance — horário [A CONFIRMAR] conforme grade de Fernanda Pistelli.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4626864"/>
            <a:ext cx="538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· UP Club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4901184"/>
            <a:ext cx="5382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de Ota Blind.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42152" y="4626864"/>
            <a:ext cx="538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Credenciais · equipe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42152" y="4901184"/>
            <a:ext cx="5382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credenciais: Badaró, Zambonini e 1 vaga de apoio operacional.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5468112"/>
            <a:ext cx="538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 · artista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5742432"/>
            <a:ext cx="5382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(Ota Blind): credencial de artista + 1 acompanhante.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42152" y="5468112"/>
            <a:ext cx="538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0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a mídias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42152" y="5742432"/>
            <a:ext cx="5382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audiovisual da produção oficial do UP, como parte do intercâmbio.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710367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ASSINA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2139696" cy="3200400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4" name="Image 0" descr="/tmp/claude-0/-home-user-pega-visao/348e86a7-e79e-5678-8e97-1bfec678684b/scratchpad/assets/frames/card_signature_oliv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71600"/>
            <a:ext cx="2139696" cy="3200400"/>
          </a:xfrm>
          <a:prstGeom prst="rect">
            <a:avLst/>
          </a:prstGeom>
        </p:spPr>
      </p:pic>
      <p:pic>
        <p:nvPicPr>
          <p:cNvPr id="5" name="Image 1" descr="/tmp/claude-0/-home-user-pega-visao/348e86a7-e79e-5678-8e97-1bfec678684b/scratchpad/assets/ilustras_png/ilustra-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1609344"/>
            <a:ext cx="914400" cy="6949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3232" y="245059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A8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 BLIND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713232" y="274320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Otávio Muniz · Cuiabá / MT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713232" y="3218688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Curadoria geral, set autoral e coordenação. Idealizador do Festival Pega Visão.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807208" y="1371600"/>
            <a:ext cx="2139696" cy="3200400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10" name="Image 2" descr="/tmp/claude-0/-home-user-pega-visao/348e86a7-e79e-5678-8e97-1bfec678684b/scratchpad/assets/frames/card_signature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1371600"/>
            <a:ext cx="2139696" cy="3200400"/>
          </a:xfrm>
          <a:prstGeom prst="rect">
            <a:avLst/>
          </a:prstGeom>
        </p:spPr>
      </p:pic>
      <p:pic>
        <p:nvPicPr>
          <p:cNvPr id="11" name="Image 3" descr="/tmp/claude-0/-home-user-pega-visao/348e86a7-e79e-5678-8e97-1bfec678684b/scratchpad/assets/ilustras_png/ilustra-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1609344"/>
            <a:ext cx="914400" cy="6949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953512" y="245059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D63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BADARÓ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2953512" y="274320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Artista visual · Rondonópolis / MT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2953512" y="3218688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 visual, obras táteis e live painting. Murais em Cuiabá, Rondonópolis e Barcelona.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5047488" y="1371600"/>
            <a:ext cx="2139696" cy="3200400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16" name="Image 4" descr="/tmp/claude-0/-home-user-pega-visao/348e86a7-e79e-5678-8e97-1bfec678684b/scratchpad/assets/frames/card_signature_magent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1371600"/>
            <a:ext cx="2139696" cy="3200400"/>
          </a:xfrm>
          <a:prstGeom prst="rect">
            <a:avLst/>
          </a:prstGeom>
        </p:spPr>
      </p:pic>
      <p:pic>
        <p:nvPicPr>
          <p:cNvPr id="17" name="Image 5" descr="/tmp/claude-0/-home-user-pega-visao/348e86a7-e79e-5678-8e97-1bfec678684b/scratchpad/assets/ilustras_png/ilustra-2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0136" y="1609344"/>
            <a:ext cx="914400" cy="6949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93792" y="245059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D83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MICKAELA</a:t>
            </a:r>
            <a:endParaRPr lang="en-US" sz="1150" dirty="0"/>
          </a:p>
        </p:txBody>
      </p:sp>
      <p:sp>
        <p:nvSpPr>
          <p:cNvPr id="19" name="Text 11"/>
          <p:cNvSpPr/>
          <p:nvPr/>
        </p:nvSpPr>
        <p:spPr>
          <a:xfrm>
            <a:off x="5193792" y="274320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Ceramista e terapeuta</a:t>
            </a:r>
            <a:endParaRPr lang="en-US" sz="950" dirty="0"/>
          </a:p>
        </p:txBody>
      </p:sp>
      <p:sp>
        <p:nvSpPr>
          <p:cNvPr id="20" name="Text 12"/>
          <p:cNvSpPr/>
          <p:nvPr/>
        </p:nvSpPr>
        <p:spPr>
          <a:xfrm>
            <a:off x="5193792" y="3218688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Conduz a vivência Cerâmica Às Cegas, guiada de olhos vendados.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7287768" y="1371600"/>
            <a:ext cx="2139696" cy="3200400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22" name="Image 6" descr="/tmp/claude-0/-home-user-pega-visao/348e86a7-e79e-5678-8e97-1bfec678684b/scratchpad/assets/frames/card_signature_lila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7768" y="1371600"/>
            <a:ext cx="2139696" cy="3200400"/>
          </a:xfrm>
          <a:prstGeom prst="rect">
            <a:avLst/>
          </a:prstGeom>
        </p:spPr>
      </p:pic>
      <p:pic>
        <p:nvPicPr>
          <p:cNvPr id="23" name="Image 7" descr="/tmp/claude-0/-home-user-pega-visao/348e86a7-e79e-5678-8e97-1bfec678684b/scratchpad/assets/ilustras_png/ilustra-0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0416" y="1609344"/>
            <a:ext cx="914400" cy="694944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434072" y="245059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9E5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FERNANDA PISTELLI</a:t>
            </a:r>
            <a:endParaRPr lang="en-US" sz="1150" dirty="0"/>
          </a:p>
        </p:txBody>
      </p:sp>
      <p:sp>
        <p:nvSpPr>
          <p:cNvPr id="25" name="Text 15"/>
          <p:cNvSpPr/>
          <p:nvPr/>
        </p:nvSpPr>
        <p:spPr>
          <a:xfrm>
            <a:off x="7434072" y="274320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 · São Paulo / SP</a:t>
            </a:r>
            <a:endParaRPr lang="en-US" sz="950" dirty="0"/>
          </a:p>
        </p:txBody>
      </p:sp>
      <p:sp>
        <p:nvSpPr>
          <p:cNvPr id="26" name="Text 16"/>
          <p:cNvSpPr/>
          <p:nvPr/>
        </p:nvSpPr>
        <p:spPr>
          <a:xfrm>
            <a:off x="7434072" y="3218688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 Trust in Dance. Boom Festival, Universo Paralello e residência DragonFruit.</a:t>
            </a:r>
            <a:endParaRPr lang="en-US" sz="1000" dirty="0"/>
          </a:p>
        </p:txBody>
      </p:sp>
      <p:sp>
        <p:nvSpPr>
          <p:cNvPr id="27" name="Shape 17"/>
          <p:cNvSpPr/>
          <p:nvPr/>
        </p:nvSpPr>
        <p:spPr>
          <a:xfrm>
            <a:off x="9528048" y="1371600"/>
            <a:ext cx="2139696" cy="3200400"/>
          </a:xfrm>
          <a:prstGeom prst="rect">
            <a:avLst/>
          </a:prstGeom>
          <a:solidFill>
            <a:srgbClr val="1E1C1A"/>
          </a:solidFill>
          <a:ln/>
        </p:spPr>
      </p:sp>
      <p:pic>
        <p:nvPicPr>
          <p:cNvPr id="28" name="Image 8" descr="/tmp/claude-0/-home-user-pega-visao/348e86a7-e79e-5678-8e97-1bfec678684b/scratchpad/assets/frames/card_signature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8048" y="1371600"/>
            <a:ext cx="2139696" cy="3200400"/>
          </a:xfrm>
          <a:prstGeom prst="rect">
            <a:avLst/>
          </a:prstGeom>
        </p:spPr>
      </p:pic>
      <p:pic>
        <p:nvPicPr>
          <p:cNvPr id="29" name="Image 9" descr="/tmp/claude-0/-home-user-pega-visao/348e86a7-e79e-5678-8e97-1bfec678684b/scratchpad/assets/ilustras_png/ilustra-0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0696" y="1609344"/>
            <a:ext cx="914400" cy="694944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9674352" y="245059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3D8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ANDRÉ ZAMBONINI</a:t>
            </a:r>
            <a:endParaRPr lang="en-US" sz="1150" dirty="0"/>
          </a:p>
        </p:txBody>
      </p:sp>
      <p:sp>
        <p:nvSpPr>
          <p:cNvPr id="31" name="Text 19"/>
          <p:cNvSpPr/>
          <p:nvPr/>
        </p:nvSpPr>
        <p:spPr>
          <a:xfrm>
            <a:off x="9674352" y="274320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 de fotografia · Cuiabá / MT</a:t>
            </a:r>
            <a:endParaRPr lang="en-US" sz="950" dirty="0"/>
          </a:p>
        </p:txBody>
      </p:sp>
      <p:sp>
        <p:nvSpPr>
          <p:cNvPr id="32" name="Text 20"/>
          <p:cNvSpPr/>
          <p:nvPr/>
        </p:nvSpPr>
        <p:spPr>
          <a:xfrm>
            <a:off x="9674352" y="3218688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6D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Captação e produção do registro documental do projeto no UP19.</a:t>
            </a:r>
            <a:endParaRPr lang="en-US" sz="1000" dirty="0"/>
          </a:p>
        </p:txBody>
      </p:sp>
      <p:sp>
        <p:nvSpPr>
          <p:cNvPr id="33" name="Text 21"/>
          <p:cNvSpPr/>
          <p:nvPr/>
        </p:nvSpPr>
        <p:spPr>
          <a:xfrm>
            <a:off x="566928" y="4864608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A8B8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venda no olho é o gesto.</a:t>
            </a:r>
            <a:endParaRPr lang="en-US" sz="26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A8B8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resto está pronto pra acontecer.</a:t>
            </a:r>
            <a:endParaRPr lang="en-US" sz="2600" dirty="0"/>
          </a:p>
        </p:txBody>
      </p:sp>
      <p:pic>
        <p:nvPicPr>
          <p:cNvPr id="34" name="Image 10" descr="/tmp/claude-0/-home-user-pega-visao/348e86a7-e79e-5678-8e97-1bfec678684b/scratchpad/assets/logo/logo_pegavisao_crem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6880" y="4901184"/>
            <a:ext cx="2286000" cy="82296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66928" y="6053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Otávio Muniz · Ota Blind</a:t>
            </a:r>
            <a:endParaRPr lang="en-US" sz="1100" dirty="0"/>
          </a:p>
        </p:txBody>
      </p:sp>
      <p:sp>
        <p:nvSpPr>
          <p:cNvPr id="36" name="Text 23"/>
          <p:cNvSpPr/>
          <p:nvPr/>
        </p:nvSpPr>
        <p:spPr>
          <a:xfrm>
            <a:off x="5212080" y="6053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lo.xbmuniz@gmail.com · +55 65 98471 6681 · @ota.blind · @pegavisaofestival</a:t>
            </a:r>
            <a:endParaRPr lang="en-US" sz="1100" dirty="0"/>
          </a:p>
        </p:txBody>
      </p:sp>
      <p:sp>
        <p:nvSpPr>
          <p:cNvPr id="37" name="Text 24"/>
          <p:cNvSpPr/>
          <p:nvPr/>
        </p:nvSpPr>
        <p:spPr>
          <a:xfrm>
            <a:off x="10710367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Pega Visão × Universo Paralello 19</dc:title>
  <dc:subject>PptxGenJS Presentation</dc:subject>
  <dc:creator>Luis Otávio Muniz · Ota Blind</dc:creator>
  <cp:lastModifiedBy>Luis Otávio Muniz · Ota Blind</cp:lastModifiedBy>
  <cp:revision>1</cp:revision>
  <dcterms:created xsi:type="dcterms:W3CDTF">2026-07-30T08:14:13Z</dcterms:created>
  <dcterms:modified xsi:type="dcterms:W3CDTF">2026-07-30T08:14:13Z</dcterms:modified>
</cp:coreProperties>
</file>